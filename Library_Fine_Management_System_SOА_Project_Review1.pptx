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26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26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26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26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26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26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26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26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26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26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26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8/26/2026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26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inderscience.com/info/inarticle.php?artid=116430&amp;utm_source=chatgpt.com"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hyperlink" Target="https://proconference.org/index.php/gec/article/view/gec34-00-008?utm_source=chatgpt.com" TargetMode="External"/><Relationship Id="rId4" Type="http://schemas.openxmlformats.org/officeDocument/2006/relationships/hyperlink" Target="https://www.libraryjournal.com.cn/EN/Y2020/V39/I8/66?utm_source=chatgpt.com"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894714605"/>
              </p:ext>
            </p:extLst>
          </p:nvPr>
        </p:nvGraphicFramePr>
        <p:xfrm>
          <a:off x="8306094" y="4487810"/>
          <a:ext cx="3702050" cy="22860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err="1">
                          <a:solidFill>
                            <a:schemeClr val="dk1"/>
                          </a:solidFill>
                          <a:latin typeface="Times New Roman" panose="02020603050405020304" pitchFamily="18" charset="0"/>
                          <a:ea typeface="Cambria"/>
                          <a:cs typeface="Times New Roman" panose="02020603050405020304" pitchFamily="18" charset="0"/>
                        </a:rPr>
                        <a:t>Name:V</a:t>
                      </a:r>
                      <a:r>
                        <a:rPr lang="en-IN" sz="1600" b="1" kern="1200" dirty="0">
                          <a:solidFill>
                            <a:schemeClr val="dk1"/>
                          </a:solidFill>
                          <a:latin typeface="Times New Roman" panose="02020603050405020304" pitchFamily="18" charset="0"/>
                          <a:ea typeface="Cambria"/>
                          <a:cs typeface="Times New Roman" panose="02020603050405020304" pitchFamily="18" charset="0"/>
                        </a:rPr>
                        <a:t> Sanjay Bhaargav</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kern="1200" dirty="0">
                          <a:solidFill>
                            <a:schemeClr val="dk1"/>
                          </a:solidFill>
                          <a:latin typeface="Times New Roman" panose="02020603050405020304" pitchFamily="18" charset="0"/>
                          <a:ea typeface="Cambria"/>
                          <a:cs typeface="Times New Roman" panose="02020603050405020304" pitchFamily="18" charset="0"/>
                        </a:rPr>
                        <a:t>Roll Number:2420030014</a:t>
                      </a:r>
                      <a:br>
                        <a:rPr lang="en-IN" sz="1600" b="1" kern="1200" dirty="0">
                          <a:solidFill>
                            <a:schemeClr val="dk1"/>
                          </a:solidFill>
                          <a:latin typeface="Times New Roman" panose="02020603050405020304" pitchFamily="18" charset="0"/>
                          <a:ea typeface="Cambria"/>
                          <a:cs typeface="Times New Roman" panose="02020603050405020304" pitchFamily="18" charset="0"/>
                        </a:rPr>
                      </a:br>
                      <a:br>
                        <a:rPr lang="en-IN" sz="1600" b="1" kern="1200" dirty="0">
                          <a:solidFill>
                            <a:schemeClr val="dk1"/>
                          </a:solidFill>
                          <a:latin typeface="Times New Roman" panose="02020603050405020304" pitchFamily="18" charset="0"/>
                          <a:ea typeface="Cambria"/>
                          <a:cs typeface="Times New Roman" panose="02020603050405020304" pitchFamily="18" charset="0"/>
                        </a:rPr>
                      </a:br>
                      <a:r>
                        <a:rPr lang="en-IN" sz="1600" b="1" kern="1200" dirty="0" err="1">
                          <a:solidFill>
                            <a:schemeClr val="dk1"/>
                          </a:solidFill>
                          <a:latin typeface="Times New Roman" panose="02020603050405020304" pitchFamily="18" charset="0"/>
                          <a:ea typeface="Cambria"/>
                          <a:cs typeface="Times New Roman" panose="02020603050405020304" pitchFamily="18" charset="0"/>
                        </a:rPr>
                        <a:t>Name:M</a:t>
                      </a:r>
                      <a:r>
                        <a:rPr lang="en-IN" sz="1600" b="1" kern="1200" dirty="0">
                          <a:solidFill>
                            <a:schemeClr val="dk1"/>
                          </a:solidFill>
                          <a:latin typeface="Times New Roman" panose="02020603050405020304" pitchFamily="18" charset="0"/>
                          <a:ea typeface="Cambria"/>
                          <a:cs typeface="Times New Roman" panose="02020603050405020304" pitchFamily="18" charset="0"/>
                        </a:rPr>
                        <a:t> Rishikesh</a:t>
                      </a:r>
                      <a:br>
                        <a:rPr lang="en-IN" sz="1600" b="1" kern="1200" dirty="0">
                          <a:solidFill>
                            <a:schemeClr val="dk1"/>
                          </a:solidFill>
                          <a:latin typeface="Times New Roman" panose="02020603050405020304" pitchFamily="18" charset="0"/>
                          <a:ea typeface="Cambria"/>
                          <a:cs typeface="Times New Roman" panose="02020603050405020304" pitchFamily="18" charset="0"/>
                        </a:rPr>
                      </a:br>
                      <a:r>
                        <a:rPr lang="en-IN" sz="1600" b="1" kern="1200" dirty="0">
                          <a:solidFill>
                            <a:schemeClr val="dk1"/>
                          </a:solidFill>
                          <a:latin typeface="Times New Roman" panose="02020603050405020304" pitchFamily="18" charset="0"/>
                          <a:ea typeface="Cambria"/>
                          <a:cs typeface="Times New Roman" panose="02020603050405020304" pitchFamily="18" charset="0"/>
                        </a:rPr>
                        <a:t>Roll Number:2420030012</a:t>
                      </a:r>
                      <a:br>
                        <a:rPr lang="en-IN" sz="1600" b="1" kern="1200" dirty="0">
                          <a:solidFill>
                            <a:schemeClr val="dk1"/>
                          </a:solidFill>
                          <a:latin typeface="Times New Roman" panose="02020603050405020304" pitchFamily="18" charset="0"/>
                          <a:ea typeface="Cambria"/>
                          <a:cs typeface="Times New Roman" panose="02020603050405020304" pitchFamily="18" charset="0"/>
                        </a:rPr>
                      </a:br>
                      <a:br>
                        <a:rPr lang="en-IN" sz="1600" b="1" kern="1200" dirty="0">
                          <a:solidFill>
                            <a:schemeClr val="dk1"/>
                          </a:solidFill>
                          <a:latin typeface="Times New Roman" panose="02020603050405020304" pitchFamily="18" charset="0"/>
                          <a:ea typeface="Cambria"/>
                          <a:cs typeface="Times New Roman" panose="02020603050405020304" pitchFamily="18" charset="0"/>
                        </a:rPr>
                      </a:br>
                      <a:r>
                        <a:rPr lang="en-IN" sz="1600" b="1" kern="1200" dirty="0" err="1">
                          <a:solidFill>
                            <a:schemeClr val="dk1"/>
                          </a:solidFill>
                          <a:latin typeface="Times New Roman" panose="02020603050405020304" pitchFamily="18" charset="0"/>
                          <a:ea typeface="Cambria"/>
                          <a:cs typeface="Times New Roman" panose="02020603050405020304" pitchFamily="18" charset="0"/>
                        </a:rPr>
                        <a:t>Name:MVS</a:t>
                      </a:r>
                      <a:r>
                        <a:rPr lang="en-IN" sz="1600" b="1" kern="1200" dirty="0">
                          <a:solidFill>
                            <a:schemeClr val="dk1"/>
                          </a:solidFill>
                          <a:latin typeface="Times New Roman" panose="02020603050405020304" pitchFamily="18" charset="0"/>
                          <a:ea typeface="Cambria"/>
                          <a:cs typeface="Times New Roman" panose="02020603050405020304" pitchFamily="18" charset="0"/>
                        </a:rPr>
                        <a:t> Aasrith</a:t>
                      </a:r>
                      <a:br>
                        <a:rPr lang="en-IN" sz="1600" b="1" kern="1200" dirty="0">
                          <a:solidFill>
                            <a:schemeClr val="dk1"/>
                          </a:solidFill>
                          <a:latin typeface="Times New Roman" panose="02020603050405020304" pitchFamily="18" charset="0"/>
                          <a:ea typeface="Cambria"/>
                          <a:cs typeface="Times New Roman" panose="02020603050405020304" pitchFamily="18" charset="0"/>
                        </a:rPr>
                      </a:br>
                      <a:r>
                        <a:rPr lang="en-IN" sz="1600" b="1" kern="1200" dirty="0">
                          <a:solidFill>
                            <a:schemeClr val="dk1"/>
                          </a:solidFill>
                          <a:latin typeface="Times New Roman" panose="02020603050405020304" pitchFamily="18" charset="0"/>
                          <a:ea typeface="Cambria"/>
                          <a:cs typeface="Times New Roman" panose="02020603050405020304" pitchFamily="18" charset="0"/>
                        </a:rPr>
                        <a:t>Roll Number:2420030573</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24652" y="4422081"/>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434105705"/>
              </p:ext>
            </p:extLst>
          </p:nvPr>
        </p:nvGraphicFramePr>
        <p:xfrm>
          <a:off x="-795813" y="4774125"/>
          <a:ext cx="5902325" cy="13411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a:t>
                      </a:r>
                      <a:r>
                        <a:rPr lang="en-IN" sz="1400" dirty="0"/>
                        <a:t>Navyatha Ravi</a:t>
                      </a: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a:t>
                      </a:r>
                      <a:br>
                        <a:rPr lang="en-US" sz="1400" dirty="0">
                          <a:solidFill>
                            <a:schemeClr val="dk1"/>
                          </a:solidFill>
                          <a:latin typeface="Times New Roman" panose="02020603050405020304" pitchFamily="18" charset="0"/>
                          <a:ea typeface="Cambria"/>
                          <a:cs typeface="Times New Roman" panose="02020603050405020304" pitchFamily="18" charset="0"/>
                          <a:sym typeface="Cambria"/>
                        </a:rPr>
                      </a:b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Associate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15636" y="650573"/>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84775"/>
          </a:xfrm>
          <a:prstGeom prst="rect">
            <a:avLst/>
          </a:prstGeom>
          <a:noFill/>
        </p:spPr>
        <p:txBody>
          <a:bodyPr wrap="square">
            <a:spAutoFit/>
          </a:bodyPr>
          <a:lstStyle/>
          <a:p>
            <a:pPr lvl="0" algn="ctr">
              <a:defRPr/>
            </a:pPr>
            <a:r>
              <a:rPr sz="3200" b="1" dirty="0">
                <a:solidFill>
                  <a:srgbClr val="FFFFFF"/>
                </a:solidFill>
                <a:latin typeface="Arial"/>
              </a:rPr>
              <a:t>Library Fine Management System</a:t>
            </a:r>
            <a:endParaRPr kumimoji="0" lang="en-US" sz="44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646876"/>
            <a:ext cx="10715625" cy="646331"/>
          </a:xfrm>
          <a:prstGeom prst="rect">
            <a:avLst/>
          </a:prstGeom>
          <a:noFill/>
        </p:spPr>
        <p:txBody>
          <a:bodyPr wrap="square">
            <a:spAutoFit/>
          </a:bodyPr>
          <a:lstStyle/>
          <a:p>
            <a:pPr lvl="0" algn="ctr">
              <a:defRPr/>
            </a:pPr>
            <a:r>
              <a:rPr sz="3600" b="1" dirty="0">
                <a:solidFill>
                  <a:srgbClr val="000000"/>
                </a:solidFill>
                <a:latin typeface="Arial"/>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ctr"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sz="1800" b="1">
                  <a:solidFill>
                    <a:srgbClr val="FFFFFF"/>
                  </a:solidFill>
                  <a:latin typeface="Arial"/>
                </a:rPr>
                <a:t>Problem Gap Identification</a:t>
              </a: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ctr"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sz="1800" b="1">
                  <a:solidFill>
                    <a:srgbClr val="FFFFFF"/>
                  </a:solidFill>
                  <a:latin typeface="Arial"/>
                </a:rPr>
                <a:t>Objectives</a:t>
              </a: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ctr"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sz="1800" b="1">
                  <a:solidFill>
                    <a:srgbClr val="FFFFFF"/>
                  </a:solidFill>
                  <a:latin typeface="Arial"/>
                </a:rPr>
                <a:t>Innovation, Creativity &amp; Novelty</a:t>
              </a: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ctr"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sz="1800" b="1">
                  <a:solidFill>
                    <a:srgbClr val="FFFFFF"/>
                  </a:solidFill>
                  <a:latin typeface="Arial"/>
                </a:rPr>
                <a:t>Feasibility &amp; Project Plan</a:t>
              </a: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ctr"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sz="1800" b="1">
                  <a:solidFill>
                    <a:srgbClr val="FFFFFF"/>
                  </a:solidFill>
                  <a:latin typeface="Arial"/>
                </a:rPr>
                <a:t>Conclusion &amp; Future Work</a:t>
              </a: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ctr"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sz="1800" b="1">
                  <a:solidFill>
                    <a:srgbClr val="FFFFFF"/>
                  </a:solidFill>
                  <a:latin typeface="Arial"/>
                </a:rPr>
                <a:t>Introduction</a:t>
              </a: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ctr"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sz="1800" b="1">
                  <a:solidFill>
                    <a:srgbClr val="FFFFFF"/>
                  </a:solidFill>
                  <a:latin typeface="Arial"/>
                </a:rPr>
                <a:t>Problem Statement</a:t>
              </a: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ctr"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sz="1800" b="1" dirty="0">
                  <a:solidFill>
                    <a:srgbClr val="FFFFFF"/>
                  </a:solidFill>
                  <a:latin typeface="Arial"/>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14400" y="1417320"/>
            <a:ext cx="10241280" cy="4182683"/>
          </a:xfrm>
          <a:prstGeom prst="rect">
            <a:avLst/>
          </a:prstGeom>
          <a:noFill/>
          <a:ln>
            <a:noFill/>
          </a:ln>
        </p:spPr>
        <p:txBody>
          <a:bodyPr wrap="square" lIns="109728" tIns="73152" rIns="109728">
            <a:spAutoFit/>
          </a:bodyPr>
          <a:lstStyle/>
          <a:p>
            <a:pPr algn="l"/>
            <a:r>
              <a:rPr sz="2400" b="0" dirty="0">
                <a:solidFill>
                  <a:srgbClr val="000000"/>
                </a:solidFill>
                <a:latin typeface="Times New Roman" panose="02020603050405020304" pitchFamily="18" charset="0"/>
                <a:cs typeface="Times New Roman" panose="02020603050405020304" pitchFamily="18" charset="0"/>
              </a:rPr>
              <a:t>Traditional library fine management is often handled through manual records or tightly coupled systems, which can lead to calculation errors, delayed fine updates, difficulty in tracking payments, and limited visibility of fine history. The proposed Library Fine Management System provides a centralized and secure way to calculate, manage, track, and clear overdue fines.
The system follows a Service-Oriented Architecture using independent microservices for authentication, member management, fine management, and notifications. REST APIs, JWT authentication, Eureka service discovery, and Spring Cloud Gateway enable secure and scalable communication between services.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14400" y="1417320"/>
            <a:ext cx="10149840" cy="3929281"/>
          </a:xfrm>
          <a:prstGeom prst="rect">
            <a:avLst/>
          </a:prstGeom>
          <a:noFill/>
          <a:ln>
            <a:noFill/>
          </a:ln>
        </p:spPr>
        <p:txBody>
          <a:bodyPr wrap="square">
            <a:spAutoFit/>
          </a:bodyPr>
          <a:lstStyle/>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Develop a microservices-based Library Fine Management System using Spring Boot.</a:t>
            </a:r>
          </a:p>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Automatically calculate fines based on overdue books and configured fine rules.</a:t>
            </a:r>
          </a:p>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Provide secure authentication and role-based access using JWT and Spring Security.</a:t>
            </a:r>
          </a:p>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Manage fine creation, update, payment, waiver, and fine-history records.</a:t>
            </a:r>
          </a:p>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Provide notifications for pending/overdue fines through email or in-app alerts.</a:t>
            </a:r>
          </a:p>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Use Eureka, Spring Cloud Gateway, REST APIs, MySQL, Postman, Docker, and GitHub Actions.</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820066648"/>
              </p:ext>
            </p:extLst>
          </p:nvPr>
        </p:nvGraphicFramePr>
        <p:xfrm>
          <a:off x="274646" y="689466"/>
          <a:ext cx="11642705" cy="5295197"/>
        </p:xfrm>
        <a:graphic>
          <a:graphicData uri="http://schemas.openxmlformats.org/drawingml/2006/table">
            <a:tbl>
              <a:tblPr firstRow="1" bandRow="1">
                <a:tableStyleId>{BC89EF96-8CEA-46FF-86C4-4CE0E7609802}</a:tableStyleId>
              </a:tblPr>
              <a:tblGrid>
                <a:gridCol w="1516447">
                  <a:extLst>
                    <a:ext uri="{9D8B030D-6E8A-4147-A177-3AD203B41FA5}">
                      <a16:colId xmlns:a16="http://schemas.microsoft.com/office/drawing/2014/main" val="20001"/>
                    </a:ext>
                  </a:extLst>
                </a:gridCol>
                <a:gridCol w="2055043">
                  <a:extLst>
                    <a:ext uri="{9D8B030D-6E8A-4147-A177-3AD203B41FA5}">
                      <a16:colId xmlns:a16="http://schemas.microsoft.com/office/drawing/2014/main" val="20002"/>
                    </a:ext>
                  </a:extLst>
                </a:gridCol>
                <a:gridCol w="2460396">
                  <a:extLst>
                    <a:ext uri="{9D8B030D-6E8A-4147-A177-3AD203B41FA5}">
                      <a16:colId xmlns:a16="http://schemas.microsoft.com/office/drawing/2014/main" val="20003"/>
                    </a:ext>
                  </a:extLst>
                </a:gridCol>
                <a:gridCol w="2745105">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buNone/>
                      </a:pPr>
                      <a:r>
                        <a:rPr lang="en-IN" sz="1600"/>
                        <a:t>Authors</a:t>
                      </a:r>
                    </a:p>
                  </a:txBody>
                  <a:tcPr anchor="ctr">
                    <a:solidFill>
                      <a:srgbClr val="FFFF00"/>
                    </a:solidFill>
                  </a:tcPr>
                </a:tc>
                <a:tc>
                  <a:txBody>
                    <a:bodyPr/>
                    <a:lstStyle/>
                    <a:p>
                      <a:pPr>
                        <a:buNone/>
                      </a:pPr>
                      <a:r>
                        <a:rPr lang="en-IN" sz="1600"/>
                        <a:t>Title of the Paper</a:t>
                      </a:r>
                    </a:p>
                  </a:txBody>
                  <a:tcPr anchor="ctr">
                    <a:solidFill>
                      <a:srgbClr val="FFFF00"/>
                    </a:solidFill>
                  </a:tcPr>
                </a:tc>
                <a:tc>
                  <a:txBody>
                    <a:bodyPr/>
                    <a:lstStyle/>
                    <a:p>
                      <a:pPr>
                        <a:buNone/>
                      </a:pPr>
                      <a:r>
                        <a:rPr lang="en-IN" sz="1600"/>
                        <a:t>Methodology</a:t>
                      </a:r>
                    </a:p>
                  </a:txBody>
                  <a:tcPr anchor="ctr">
                    <a:solidFill>
                      <a:srgbClr val="FFFF00"/>
                    </a:solidFill>
                  </a:tcPr>
                </a:tc>
                <a:tc>
                  <a:txBody>
                    <a:bodyPr/>
                    <a:lstStyle/>
                    <a:p>
                      <a:pPr>
                        <a:buNone/>
                      </a:pPr>
                      <a:r>
                        <a:rPr lang="en-IN" sz="1600"/>
                        <a:t>Inferences</a:t>
                      </a:r>
                    </a:p>
                  </a:txBody>
                  <a:tcPr anchor="ctr">
                    <a:solidFill>
                      <a:srgbClr val="FFFF00"/>
                    </a:solidFill>
                  </a:tcPr>
                </a:tc>
                <a:tc>
                  <a:txBody>
                    <a:bodyPr/>
                    <a:lstStyle/>
                    <a:p>
                      <a:pPr>
                        <a:buNone/>
                      </a:pPr>
                      <a:r>
                        <a:rPr lang="en-IN" sz="1600"/>
                        <a:t>Limitation / Future Work</a:t>
                      </a:r>
                    </a:p>
                  </a:txBody>
                  <a:tcPr anchor="ctr">
                    <a:solidFill>
                      <a:srgbClr val="FFFF00"/>
                    </a:solidFill>
                  </a:tcPr>
                </a:tc>
                <a:extLst>
                  <a:ext uri="{0D108BD9-81ED-4DB2-BD59-A6C34878D82A}">
                    <a16:rowId xmlns:a16="http://schemas.microsoft.com/office/drawing/2014/main" val="10000"/>
                  </a:ext>
                </a:extLst>
              </a:tr>
              <a:tr h="1541937">
                <a:tc>
                  <a:txBody>
                    <a:bodyPr/>
                    <a:lstStyle/>
                    <a:p>
                      <a:pPr>
                        <a:buNone/>
                      </a:pPr>
                      <a:r>
                        <a:rPr lang="en-IN" sz="1600" b="1" dirty="0"/>
                        <a:t>Gannamraju et al. [1]</a:t>
                      </a:r>
                      <a:endParaRPr lang="en-IN" sz="1600" dirty="0"/>
                    </a:p>
                  </a:txBody>
                  <a:tcPr anchor="ctr"/>
                </a:tc>
                <a:tc>
                  <a:txBody>
                    <a:bodyPr/>
                    <a:lstStyle/>
                    <a:p>
                      <a:pPr>
                        <a:buNone/>
                      </a:pPr>
                      <a:r>
                        <a:rPr lang="en-IN" sz="1600" i="1"/>
                        <a:t>Radio Frequency Identification and Internet of Things-Based Smart Library Management System</a:t>
                      </a:r>
                      <a:r>
                        <a:rPr lang="en-IN" sz="1600"/>
                        <a:t> (2021)</a:t>
                      </a:r>
                    </a:p>
                  </a:txBody>
                  <a:tcPr anchor="ctr"/>
                </a:tc>
                <a:tc>
                  <a:txBody>
                    <a:bodyPr/>
                    <a:lstStyle/>
                    <a:p>
                      <a:pPr>
                        <a:buNone/>
                      </a:pPr>
                      <a:r>
                        <a:rPr lang="en-IN" sz="1600"/>
                        <a:t>RFID tags/readers, ESP8266, MySQL database and web portal for automated issue/return, transaction tracking and fine details.</a:t>
                      </a:r>
                    </a:p>
                  </a:txBody>
                  <a:tcPr anchor="ctr"/>
                </a:tc>
                <a:tc>
                  <a:txBody>
                    <a:bodyPr/>
                    <a:lstStyle/>
                    <a:p>
                      <a:pPr>
                        <a:buNone/>
                      </a:pPr>
                      <a:r>
                        <a:rPr lang="en-IN" sz="1600"/>
                        <a:t>Automates library transactions and provides fine information for students and staff, reducing manual work. (</a:t>
                      </a:r>
                      <a:r>
                        <a:rPr lang="en-IN" sz="1600">
                          <a:hlinkClick r:id="rId3" tooltip="Article: Radio frequency identification and internet of things-based smart library management system Journal: International Journal of Networking and Virtual Organisations (IJNVO) 2021 Vol.24 No.4 pp.329 - 346 Abstract: Libraries are essential parts of educational institutes that provide teaching resources and information. There is a loss of library resources due to the inefficiency of manual library systems which are not updating the information regularly. This paper aims to improve the existing library management systems at the university level using radio frequency identification technology (RFID) and the internet of things (IoT). RFID is a fast emerging technology as it enhances authenticity and reliability. The proposed smart library system uses RFID tag, RFID tag reader, ESP8266, and back-end database that store the required content. It automates the issue and return of books with minimum human intervention. The designed library portal gives the availability of a variety of library resources, book transaction information, and fine details for both students and staff. The data analysis of book transaction details is done and data visualisation is also made available to both user and admin. Inderscience Publishers - linking academia, business and industry through research"/>
                        </a:rPr>
                        <a:t>InderScience</a:t>
                      </a:r>
                      <a:r>
                        <a:rPr lang="en-IN" sz="1600"/>
                        <a:t>)</a:t>
                      </a:r>
                    </a:p>
                  </a:txBody>
                  <a:tcPr anchor="ctr"/>
                </a:tc>
                <a:tc>
                  <a:txBody>
                    <a:bodyPr/>
                    <a:lstStyle/>
                    <a:p>
                      <a:pPr>
                        <a:buNone/>
                      </a:pPr>
                      <a:r>
                        <a:rPr lang="en-IN" sz="1600"/>
                        <a:t>Mainly focuses on RFID/IoT-based automation; fine management is included as part of the overall system rather than as an independent service.</a:t>
                      </a:r>
                    </a:p>
                  </a:txBody>
                  <a:tcPr anchor="ctr"/>
                </a:tc>
                <a:extLst>
                  <a:ext uri="{0D108BD9-81ED-4DB2-BD59-A6C34878D82A}">
                    <a16:rowId xmlns:a16="http://schemas.microsoft.com/office/drawing/2014/main" val="3714155954"/>
                  </a:ext>
                </a:extLst>
              </a:tr>
              <a:tr h="1354600">
                <a:tc>
                  <a:txBody>
                    <a:bodyPr/>
                    <a:lstStyle/>
                    <a:p>
                      <a:pPr>
                        <a:buNone/>
                      </a:pPr>
                      <a:r>
                        <a:rPr lang="en-IN" sz="1600" b="1"/>
                        <a:t>Yang &amp; Lin [2]</a:t>
                      </a:r>
                      <a:endParaRPr lang="en-IN" sz="1600"/>
                    </a:p>
                  </a:txBody>
                  <a:tcPr anchor="ctr"/>
                </a:tc>
                <a:tc>
                  <a:txBody>
                    <a:bodyPr/>
                    <a:lstStyle/>
                    <a:p>
                      <a:pPr>
                        <a:buNone/>
                      </a:pPr>
                      <a:r>
                        <a:rPr lang="en-IN" sz="1600" i="1"/>
                        <a:t>New Generation Library Service Platform Based on Microservices</a:t>
                      </a:r>
                      <a:r>
                        <a:rPr lang="en-IN" sz="1600"/>
                        <a:t> (2020)</a:t>
                      </a:r>
                    </a:p>
                  </a:txBody>
                  <a:tcPr anchor="ctr"/>
                </a:tc>
                <a:tc>
                  <a:txBody>
                    <a:bodyPr/>
                    <a:lstStyle/>
                    <a:p>
                      <a:pPr>
                        <a:buNone/>
                      </a:pPr>
                      <a:r>
                        <a:rPr lang="en-IN" sz="1600" dirty="0"/>
                        <a:t>Microservice-based architecture for a next-generation library service platform, with modular and independently expandable services.</a:t>
                      </a:r>
                    </a:p>
                  </a:txBody>
                  <a:tcPr anchor="ctr"/>
                </a:tc>
                <a:tc>
                  <a:txBody>
                    <a:bodyPr/>
                    <a:lstStyle/>
                    <a:p>
                      <a:pPr>
                        <a:buNone/>
                      </a:pPr>
                      <a:r>
                        <a:rPr lang="en-IN" sz="1600" dirty="0"/>
                        <a:t>Shows that microservices can make library platforms more flexible, open and easier to expand. (</a:t>
                      </a:r>
                      <a:r>
                        <a:rPr lang="en-IN" sz="1600" dirty="0">
                          <a:hlinkClick r:id="rId4" tooltip="New Generation Library Service Platform Based on Microservices"/>
                        </a:rPr>
                        <a:t>libraryjournal.com.cn</a:t>
                      </a:r>
                      <a:r>
                        <a:rPr lang="en-IN" sz="1600" dirty="0"/>
                        <a:t>)</a:t>
                      </a:r>
                    </a:p>
                  </a:txBody>
                  <a:tcPr anchor="ctr"/>
                </a:tc>
                <a:tc>
                  <a:txBody>
                    <a:bodyPr/>
                    <a:lstStyle/>
                    <a:p>
                      <a:pPr>
                        <a:buNone/>
                      </a:pPr>
                      <a:r>
                        <a:rPr lang="en-IN" sz="1600"/>
                        <a:t>Focuses on the overall library service platform; a dedicated fine-management workflow is not the primary focus.</a:t>
                      </a:r>
                    </a:p>
                  </a:txBody>
                  <a:tcPr anchor="ctr"/>
                </a:tc>
                <a:extLst>
                  <a:ext uri="{0D108BD9-81ED-4DB2-BD59-A6C34878D82A}">
                    <a16:rowId xmlns:a16="http://schemas.microsoft.com/office/drawing/2014/main" val="2655426370"/>
                  </a:ext>
                </a:extLst>
              </a:tr>
              <a:tr h="1354600">
                <a:tc>
                  <a:txBody>
                    <a:bodyPr/>
                    <a:lstStyle/>
                    <a:p>
                      <a:pPr>
                        <a:buNone/>
                      </a:pPr>
                      <a:r>
                        <a:rPr lang="en-IN" sz="1600" b="1"/>
                        <a:t>Smetanenko &amp; Kulakovska [3]</a:t>
                      </a:r>
                      <a:endParaRPr lang="en-IN" sz="1600"/>
                    </a:p>
                  </a:txBody>
                  <a:tcPr anchor="ctr"/>
                </a:tc>
                <a:tc>
                  <a:txBody>
                    <a:bodyPr/>
                    <a:lstStyle/>
                    <a:p>
                      <a:pPr>
                        <a:buNone/>
                      </a:pPr>
                      <a:r>
                        <a:rPr lang="en-IN" sz="1600" i="1"/>
                        <a:t>Book Library Management System Based on Cloud Microservices AWS</a:t>
                      </a:r>
                      <a:r>
                        <a:rPr lang="en-IN" sz="1600"/>
                        <a:t> (2024)</a:t>
                      </a:r>
                    </a:p>
                  </a:txBody>
                  <a:tcPr anchor="ctr"/>
                </a:tc>
                <a:tc>
                  <a:txBody>
                    <a:bodyPr/>
                    <a:lstStyle/>
                    <a:p>
                      <a:pPr>
                        <a:buNone/>
                      </a:pPr>
                      <a:r>
                        <a:rPr lang="en-IN" sz="1600"/>
                        <a:t>Cloud-based microservices using AWS, Node.js, TypeScript, Docker and JWT for a distributed library system.</a:t>
                      </a:r>
                    </a:p>
                  </a:txBody>
                  <a:tcPr anchor="ctr"/>
                </a:tc>
                <a:tc>
                  <a:txBody>
                    <a:bodyPr/>
                    <a:lstStyle/>
                    <a:p>
                      <a:pPr>
                        <a:buNone/>
                      </a:pPr>
                      <a:r>
                        <a:rPr lang="en-IN" sz="1600"/>
                        <a:t>Demonstrates that microservices can provide scalability, reliability, security and flexible adaptation in library management. (</a:t>
                      </a:r>
                      <a:r>
                        <a:rPr lang="en-IN" sz="1600">
                          <a:hlinkClick r:id="rId5" tooltip="BOOK LIBRARY MANAGEMENT SYSTEM BASED ON CLOUD MICROSERVICES AWS | SWorld-Ger Conference proceedings"/>
                        </a:rPr>
                        <a:t>proconference.org</a:t>
                      </a:r>
                      <a:r>
                        <a:rPr lang="en-IN" sz="1600"/>
                        <a:t>)</a:t>
                      </a:r>
                    </a:p>
                  </a:txBody>
                  <a:tcPr anchor="ctr"/>
                </a:tc>
                <a:tc>
                  <a:txBody>
                    <a:bodyPr/>
                    <a:lstStyle/>
                    <a:p>
                      <a:pPr>
                        <a:buNone/>
                      </a:pPr>
                      <a:r>
                        <a:rPr lang="en-IN" sz="1600" dirty="0"/>
                        <a:t>Uses a cloud/Node.js technology stack rather than a Java Spring Boot SOA implementation; dedicated fine-management functionality is not the main focus.</a:t>
                      </a:r>
                    </a:p>
                  </a:txBody>
                  <a:tcPr anchor="ct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6"/>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14400" y="1371600"/>
            <a:ext cx="10241280" cy="4196020"/>
          </a:xfrm>
          <a:prstGeom prst="rect">
            <a:avLst/>
          </a:prstGeom>
          <a:noFill/>
          <a:ln>
            <a:noFill/>
          </a:ln>
        </p:spPr>
        <p:txBody>
          <a:bodyPr wrap="square">
            <a:spAutoFit/>
          </a:bodyPr>
          <a:lstStyle/>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Existing library systems mainly concentrate on book cataloguing, issue/return, RFID tracking, and general automation.</a:t>
            </a:r>
          </a:p>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Fine calculation and payment are often treated as a small feature rather than an independent service.</a:t>
            </a:r>
          </a:p>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Monolithic implementations can make individual modules harder to scale, maintain, and deploy independently.</a:t>
            </a:r>
          </a:p>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There is a need for a dedicated fine-management workflow with secure APIs, service discovery, gateway routing, and separate data ownership.</a:t>
            </a:r>
          </a:p>
          <a:p>
            <a:pPr>
              <a:spcAft>
                <a:spcPts val="800"/>
              </a:spcAft>
              <a:defRPr sz="1800">
                <a:solidFill>
                  <a:srgbClr val="1E1E1E"/>
                </a:solidFill>
                <a:latin typeface="Arial"/>
              </a:defRPr>
            </a:pPr>
            <a:r>
              <a:rPr sz="2400" dirty="0">
                <a:latin typeface="Times New Roman" panose="02020603050405020304" pitchFamily="18" charset="0"/>
                <a:cs typeface="Times New Roman" panose="02020603050405020304" pitchFamily="18" charset="0"/>
              </a:rPr>
              <a:t>• The proposed system addresses this gap through independent microservices and a database-per-service approach.</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777240" y="1325880"/>
            <a:ext cx="5303520" cy="4401205"/>
          </a:xfrm>
          <a:prstGeom prst="rect">
            <a:avLst/>
          </a:prstGeom>
          <a:noFill/>
          <a:ln>
            <a:noFill/>
          </a:ln>
        </p:spPr>
        <p:txBody>
          <a:bodyPr wrap="square">
            <a:spAutoFit/>
          </a:bodyPr>
          <a:lstStyle/>
          <a:p>
            <a:pPr>
              <a:spcAft>
                <a:spcPts val="800"/>
              </a:spcAft>
              <a:defRPr sz="1600">
                <a:solidFill>
                  <a:srgbClr val="1E1E1E"/>
                </a:solidFill>
                <a:latin typeface="Arial"/>
              </a:defRPr>
            </a:pPr>
            <a:r>
              <a:rPr sz="2000" dirty="0">
                <a:latin typeface="Times New Roman" panose="02020603050405020304" pitchFamily="18" charset="0"/>
                <a:cs typeface="Times New Roman" panose="02020603050405020304" pitchFamily="18" charset="0"/>
              </a:rPr>
              <a:t>• Fine Management as an independent microservice.</a:t>
            </a:r>
          </a:p>
          <a:p>
            <a:pPr>
              <a:spcAft>
                <a:spcPts val="800"/>
              </a:spcAft>
              <a:defRPr sz="1600">
                <a:solidFill>
                  <a:srgbClr val="1E1E1E"/>
                </a:solidFill>
                <a:latin typeface="Arial"/>
              </a:defRPr>
            </a:pPr>
            <a:r>
              <a:rPr sz="2000" dirty="0">
                <a:latin typeface="Times New Roman" panose="02020603050405020304" pitchFamily="18" charset="0"/>
                <a:cs typeface="Times New Roman" panose="02020603050405020304" pitchFamily="18" charset="0"/>
              </a:rPr>
              <a:t>• Automatic overdue-fine calculation using configurable rules.</a:t>
            </a:r>
          </a:p>
          <a:p>
            <a:pPr>
              <a:spcAft>
                <a:spcPts val="800"/>
              </a:spcAft>
              <a:defRPr sz="1600">
                <a:solidFill>
                  <a:srgbClr val="1E1E1E"/>
                </a:solidFill>
                <a:latin typeface="Arial"/>
              </a:defRPr>
            </a:pPr>
            <a:r>
              <a:rPr sz="2000" dirty="0">
                <a:latin typeface="Times New Roman" panose="02020603050405020304" pitchFamily="18" charset="0"/>
                <a:cs typeface="Times New Roman" panose="02020603050405020304" pitchFamily="18" charset="0"/>
              </a:rPr>
              <a:t>• JWT-based authentication with role-based authorization.</a:t>
            </a:r>
          </a:p>
          <a:p>
            <a:pPr>
              <a:spcAft>
                <a:spcPts val="800"/>
              </a:spcAft>
              <a:defRPr sz="1600">
                <a:solidFill>
                  <a:srgbClr val="1E1E1E"/>
                </a:solidFill>
                <a:latin typeface="Arial"/>
              </a:defRPr>
            </a:pPr>
            <a:r>
              <a:rPr sz="2000" dirty="0">
                <a:latin typeface="Times New Roman" panose="02020603050405020304" pitchFamily="18" charset="0"/>
                <a:cs typeface="Times New Roman" panose="02020603050405020304" pitchFamily="18" charset="0"/>
              </a:rPr>
              <a:t>• Eureka service discovery and Spring Cloud Gateway for API routing.</a:t>
            </a:r>
          </a:p>
          <a:p>
            <a:pPr>
              <a:spcAft>
                <a:spcPts val="800"/>
              </a:spcAft>
              <a:defRPr sz="1600">
                <a:solidFill>
                  <a:srgbClr val="1E1E1E"/>
                </a:solidFill>
                <a:latin typeface="Arial"/>
              </a:defRPr>
            </a:pPr>
            <a:r>
              <a:rPr sz="2000" dirty="0">
                <a:latin typeface="Times New Roman" panose="02020603050405020304" pitchFamily="18" charset="0"/>
                <a:cs typeface="Times New Roman" panose="02020603050405020304" pitchFamily="18" charset="0"/>
              </a:rPr>
              <a:t>• Separate MySQL database for each service.</a:t>
            </a:r>
          </a:p>
          <a:p>
            <a:pPr>
              <a:spcAft>
                <a:spcPts val="800"/>
              </a:spcAft>
              <a:defRPr sz="1600">
                <a:solidFill>
                  <a:srgbClr val="1E1E1E"/>
                </a:solidFill>
                <a:latin typeface="Arial"/>
              </a:defRPr>
            </a:pPr>
            <a:r>
              <a:rPr sz="2000" dirty="0">
                <a:latin typeface="Times New Roman" panose="02020603050405020304" pitchFamily="18" charset="0"/>
                <a:cs typeface="Times New Roman" panose="02020603050405020304" pitchFamily="18" charset="0"/>
              </a:rPr>
              <a:t>• Notification service for pending-fine reminders.</a:t>
            </a:r>
          </a:p>
          <a:p>
            <a:pPr>
              <a:spcAft>
                <a:spcPts val="800"/>
              </a:spcAft>
              <a:defRPr sz="1600">
                <a:solidFill>
                  <a:srgbClr val="1E1E1E"/>
                </a:solidFill>
                <a:latin typeface="Arial"/>
              </a:defRPr>
            </a:pPr>
            <a:r>
              <a:rPr sz="2000" dirty="0">
                <a:latin typeface="Times New Roman" panose="02020603050405020304" pitchFamily="18" charset="0"/>
                <a:cs typeface="Times New Roman" panose="02020603050405020304" pitchFamily="18" charset="0"/>
              </a:rPr>
              <a:t>• REST APIs tested using Postman with unit and integration testing.</a:t>
            </a:r>
          </a:p>
        </p:txBody>
      </p:sp>
      <p:pic>
        <p:nvPicPr>
          <p:cNvPr id="7" name="Picture 6" descr="a_wide_diagram_infographic_system_architecture_f.png"/>
          <p:cNvPicPr>
            <a:picLocks noChangeAspect="1"/>
          </p:cNvPicPr>
          <p:nvPr/>
        </p:nvPicPr>
        <p:blipFill>
          <a:blip r:embed="rId3"/>
          <a:stretch>
            <a:fillRect/>
          </a:stretch>
        </p:blipFill>
        <p:spPr>
          <a:xfrm>
            <a:off x="5954441" y="1824793"/>
            <a:ext cx="5846978" cy="3208413"/>
          </a:xfrm>
          <a:prstGeom prst="rect">
            <a:avLst/>
          </a:prstGeom>
        </p:spPr>
      </p:pic>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568246" y="339896"/>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222521" y="1276484"/>
            <a:ext cx="10116039" cy="369332"/>
          </a:xfrm>
          <a:prstGeom prst="rect">
            <a:avLst/>
          </a:prstGeom>
          <a:noFill/>
        </p:spPr>
        <p:txBody>
          <a:bodyPr wrap="none" rtlCol="0">
            <a:spAutoFit/>
          </a:bodyPr>
          <a:lstStyle/>
          <a:p>
            <a:pPr algn="ctr"/>
            <a:r>
              <a:rPr sz="1700" b="1" dirty="0">
                <a:solidFill>
                  <a:srgbClr val="FF0000"/>
                </a:solidFill>
                <a:latin typeface="Arial"/>
              </a:rPr>
              <a:t>FEASIBILITY AND PROJECT TIMELINE</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731520" y="1537791"/>
            <a:ext cx="10515600" cy="1104918"/>
          </a:xfrm>
          <a:prstGeom prst="rect">
            <a:avLst/>
          </a:prstGeom>
          <a:noFill/>
          <a:ln>
            <a:noFill/>
          </a:ln>
        </p:spPr>
        <p:txBody>
          <a:bodyPr wrap="square" lIns="109728" tIns="73152" rIns="109728">
            <a:spAutoFit/>
          </a:bodyPr>
          <a:lstStyle/>
          <a:p>
            <a:r>
              <a:rPr lang="en-IN" sz="1600" b="1" dirty="0"/>
              <a:t>Feasibility Explanation:</a:t>
            </a:r>
            <a:br>
              <a:rPr lang="en-IN" sz="1600" dirty="0"/>
            </a:br>
            <a:r>
              <a:rPr lang="en-IN" sz="1600" dirty="0"/>
              <a:t>The proposed Library Fine Management System is technically feasible using Java, Spring Boot, Microservices, MySQL, REST APIs, JWT, Eureka, Spring Cloud Gateway, Postman, GitHub, and Docker. The system can be developed incrementally by implementing and integrating independent services.</a:t>
            </a:r>
            <a:endParaRPr sz="1500" b="0" dirty="0">
              <a:solidFill>
                <a:srgbClr val="000000"/>
              </a:solidFill>
              <a:latin typeface="Arial"/>
            </a:endParaRPr>
          </a:p>
        </p:txBody>
      </p:sp>
      <p:sp>
        <p:nvSpPr>
          <p:cNvPr id="7" name="TextBox 6"/>
          <p:cNvSpPr txBox="1"/>
          <p:nvPr/>
        </p:nvSpPr>
        <p:spPr>
          <a:xfrm>
            <a:off x="822960" y="2743200"/>
            <a:ext cx="1234440" cy="438912"/>
          </a:xfrm>
          <a:prstGeom prst="rect">
            <a:avLst/>
          </a:prstGeom>
          <a:solidFill>
            <a:srgbClr val="305D96"/>
          </a:solidFill>
          <a:ln>
            <a:solidFill>
              <a:srgbClr val="305D96"/>
            </a:solidFill>
          </a:ln>
        </p:spPr>
        <p:txBody>
          <a:bodyPr wrap="square" lIns="109728" tIns="73152" rIns="109728">
            <a:spAutoFit/>
          </a:bodyPr>
          <a:lstStyle/>
          <a:p>
            <a:pPr algn="ctr"/>
            <a:r>
              <a:rPr sz="1400" b="1">
                <a:solidFill>
                  <a:srgbClr val="FFFFFF"/>
                </a:solidFill>
                <a:latin typeface="Arial"/>
              </a:rPr>
              <a:t>Phase</a:t>
            </a:r>
          </a:p>
        </p:txBody>
      </p:sp>
      <p:sp>
        <p:nvSpPr>
          <p:cNvPr id="8" name="TextBox 7"/>
          <p:cNvSpPr txBox="1"/>
          <p:nvPr/>
        </p:nvSpPr>
        <p:spPr>
          <a:xfrm>
            <a:off x="2057400" y="2743200"/>
            <a:ext cx="6492240" cy="438912"/>
          </a:xfrm>
          <a:prstGeom prst="rect">
            <a:avLst/>
          </a:prstGeom>
          <a:solidFill>
            <a:srgbClr val="305D96"/>
          </a:solidFill>
          <a:ln>
            <a:solidFill>
              <a:srgbClr val="305D96"/>
            </a:solidFill>
          </a:ln>
        </p:spPr>
        <p:txBody>
          <a:bodyPr wrap="square" lIns="109728" tIns="73152" rIns="109728">
            <a:spAutoFit/>
          </a:bodyPr>
          <a:lstStyle/>
          <a:p>
            <a:pPr algn="ctr"/>
            <a:r>
              <a:rPr sz="1400" b="1">
                <a:solidFill>
                  <a:srgbClr val="FFFFFF"/>
                </a:solidFill>
                <a:latin typeface="Arial"/>
              </a:rPr>
              <a:t>Work</a:t>
            </a:r>
          </a:p>
        </p:txBody>
      </p:sp>
      <p:sp>
        <p:nvSpPr>
          <p:cNvPr id="9" name="TextBox 8"/>
          <p:cNvSpPr txBox="1"/>
          <p:nvPr/>
        </p:nvSpPr>
        <p:spPr>
          <a:xfrm>
            <a:off x="8549640" y="2743200"/>
            <a:ext cx="2697480" cy="438912"/>
          </a:xfrm>
          <a:prstGeom prst="rect">
            <a:avLst/>
          </a:prstGeom>
          <a:solidFill>
            <a:srgbClr val="305D96"/>
          </a:solidFill>
          <a:ln>
            <a:solidFill>
              <a:srgbClr val="305D96"/>
            </a:solidFill>
          </a:ln>
        </p:spPr>
        <p:txBody>
          <a:bodyPr wrap="square" lIns="109728" tIns="73152" rIns="109728">
            <a:spAutoFit/>
          </a:bodyPr>
          <a:lstStyle/>
          <a:p>
            <a:pPr algn="ctr"/>
            <a:r>
              <a:rPr sz="1400" b="1">
                <a:solidFill>
                  <a:srgbClr val="FFFFFF"/>
                </a:solidFill>
                <a:latin typeface="Arial"/>
              </a:rPr>
              <a:t>Timeline</a:t>
            </a:r>
          </a:p>
        </p:txBody>
      </p:sp>
      <p:sp>
        <p:nvSpPr>
          <p:cNvPr id="10" name="TextBox 9"/>
          <p:cNvSpPr txBox="1"/>
          <p:nvPr/>
        </p:nvSpPr>
        <p:spPr>
          <a:xfrm>
            <a:off x="822960" y="3200400"/>
            <a:ext cx="1234440" cy="512064"/>
          </a:xfrm>
          <a:prstGeom prst="rect">
            <a:avLst/>
          </a:prstGeom>
          <a:solidFill>
            <a:srgbClr val="EBF2FA"/>
          </a:solidFill>
          <a:ln>
            <a:solidFill>
              <a:srgbClr val="969696"/>
            </a:solidFill>
          </a:ln>
        </p:spPr>
        <p:txBody>
          <a:bodyPr wrap="square" lIns="109728" tIns="73152" rIns="109728">
            <a:spAutoFit/>
          </a:bodyPr>
          <a:lstStyle/>
          <a:p>
            <a:pPr algn="ctr"/>
            <a:r>
              <a:rPr sz="1300" b="1">
                <a:solidFill>
                  <a:srgbClr val="000000"/>
                </a:solidFill>
                <a:latin typeface="Arial"/>
              </a:rPr>
              <a:t>Phase 1</a:t>
            </a:r>
          </a:p>
        </p:txBody>
      </p:sp>
      <p:sp>
        <p:nvSpPr>
          <p:cNvPr id="11" name="TextBox 10"/>
          <p:cNvSpPr txBox="1"/>
          <p:nvPr/>
        </p:nvSpPr>
        <p:spPr>
          <a:xfrm>
            <a:off x="2057400" y="3200400"/>
            <a:ext cx="6492240" cy="512064"/>
          </a:xfrm>
          <a:prstGeom prst="rect">
            <a:avLst/>
          </a:prstGeom>
          <a:solidFill>
            <a:srgbClr val="EBF2FA"/>
          </a:solidFill>
          <a:ln>
            <a:solidFill>
              <a:srgbClr val="969696"/>
            </a:solidFill>
          </a:ln>
        </p:spPr>
        <p:txBody>
          <a:bodyPr wrap="square" lIns="109728" tIns="73152" rIns="109728">
            <a:spAutoFit/>
          </a:bodyPr>
          <a:lstStyle/>
          <a:p>
            <a:pPr algn="ctr"/>
            <a:r>
              <a:rPr sz="1300" b="0">
                <a:solidFill>
                  <a:srgbClr val="000000"/>
                </a:solidFill>
                <a:latin typeface="Arial"/>
              </a:rPr>
              <a:t>Requirements &amp; Literature Survey</a:t>
            </a:r>
          </a:p>
        </p:txBody>
      </p:sp>
      <p:sp>
        <p:nvSpPr>
          <p:cNvPr id="12" name="TextBox 11"/>
          <p:cNvSpPr txBox="1"/>
          <p:nvPr/>
        </p:nvSpPr>
        <p:spPr>
          <a:xfrm>
            <a:off x="8549640" y="3200400"/>
            <a:ext cx="2697480" cy="512064"/>
          </a:xfrm>
          <a:prstGeom prst="rect">
            <a:avLst/>
          </a:prstGeom>
          <a:solidFill>
            <a:srgbClr val="EBF2FA"/>
          </a:solidFill>
          <a:ln>
            <a:solidFill>
              <a:srgbClr val="969696"/>
            </a:solidFill>
          </a:ln>
        </p:spPr>
        <p:txBody>
          <a:bodyPr wrap="square" lIns="109728" tIns="73152" rIns="109728">
            <a:spAutoFit/>
          </a:bodyPr>
          <a:lstStyle/>
          <a:p>
            <a:pPr algn="ctr"/>
            <a:r>
              <a:rPr sz="1300" b="0">
                <a:solidFill>
                  <a:srgbClr val="000000"/>
                </a:solidFill>
                <a:latin typeface="Arial"/>
              </a:rPr>
              <a:t>Week 1</a:t>
            </a:r>
          </a:p>
        </p:txBody>
      </p:sp>
      <p:sp>
        <p:nvSpPr>
          <p:cNvPr id="13" name="TextBox 12"/>
          <p:cNvSpPr txBox="1"/>
          <p:nvPr/>
        </p:nvSpPr>
        <p:spPr>
          <a:xfrm>
            <a:off x="822960" y="3730752"/>
            <a:ext cx="1234440" cy="512064"/>
          </a:xfrm>
          <a:prstGeom prst="rect">
            <a:avLst/>
          </a:prstGeom>
          <a:solidFill>
            <a:srgbClr val="F8F8F8"/>
          </a:solidFill>
          <a:ln>
            <a:solidFill>
              <a:srgbClr val="969696"/>
            </a:solidFill>
          </a:ln>
        </p:spPr>
        <p:txBody>
          <a:bodyPr wrap="square" lIns="109728" tIns="73152" rIns="109728">
            <a:spAutoFit/>
          </a:bodyPr>
          <a:lstStyle/>
          <a:p>
            <a:pPr algn="ctr"/>
            <a:r>
              <a:rPr sz="1300" b="1">
                <a:solidFill>
                  <a:srgbClr val="000000"/>
                </a:solidFill>
                <a:latin typeface="Arial"/>
              </a:rPr>
              <a:t>Phase 2</a:t>
            </a:r>
          </a:p>
        </p:txBody>
      </p:sp>
      <p:sp>
        <p:nvSpPr>
          <p:cNvPr id="14" name="TextBox 13"/>
          <p:cNvSpPr txBox="1"/>
          <p:nvPr/>
        </p:nvSpPr>
        <p:spPr>
          <a:xfrm>
            <a:off x="2057400" y="3730752"/>
            <a:ext cx="6492240" cy="512064"/>
          </a:xfrm>
          <a:prstGeom prst="rect">
            <a:avLst/>
          </a:prstGeom>
          <a:solidFill>
            <a:srgbClr val="F8F8F8"/>
          </a:solidFill>
          <a:ln>
            <a:solidFill>
              <a:srgbClr val="969696"/>
            </a:solidFill>
          </a:ln>
        </p:spPr>
        <p:txBody>
          <a:bodyPr wrap="square" lIns="109728" tIns="73152" rIns="109728">
            <a:spAutoFit/>
          </a:bodyPr>
          <a:lstStyle/>
          <a:p>
            <a:pPr algn="ctr"/>
            <a:r>
              <a:rPr sz="1300" b="0">
                <a:solidFill>
                  <a:srgbClr val="000000"/>
                </a:solidFill>
                <a:latin typeface="Arial"/>
              </a:rPr>
              <a:t>System Design &amp; Microservices Architecture</a:t>
            </a:r>
          </a:p>
        </p:txBody>
      </p:sp>
      <p:sp>
        <p:nvSpPr>
          <p:cNvPr id="15" name="TextBox 14"/>
          <p:cNvSpPr txBox="1"/>
          <p:nvPr/>
        </p:nvSpPr>
        <p:spPr>
          <a:xfrm>
            <a:off x="8549640" y="3730752"/>
            <a:ext cx="2697480" cy="512064"/>
          </a:xfrm>
          <a:prstGeom prst="rect">
            <a:avLst/>
          </a:prstGeom>
          <a:solidFill>
            <a:srgbClr val="F8F8F8"/>
          </a:solidFill>
          <a:ln>
            <a:solidFill>
              <a:srgbClr val="969696"/>
            </a:solidFill>
          </a:ln>
        </p:spPr>
        <p:txBody>
          <a:bodyPr wrap="square" lIns="109728" tIns="73152" rIns="109728">
            <a:spAutoFit/>
          </a:bodyPr>
          <a:lstStyle/>
          <a:p>
            <a:pPr algn="ctr"/>
            <a:r>
              <a:rPr sz="1300" b="0">
                <a:solidFill>
                  <a:srgbClr val="000000"/>
                </a:solidFill>
                <a:latin typeface="Arial"/>
              </a:rPr>
              <a:t>Week 2</a:t>
            </a:r>
          </a:p>
        </p:txBody>
      </p:sp>
      <p:sp>
        <p:nvSpPr>
          <p:cNvPr id="16" name="TextBox 15"/>
          <p:cNvSpPr txBox="1"/>
          <p:nvPr/>
        </p:nvSpPr>
        <p:spPr>
          <a:xfrm>
            <a:off x="822960" y="4261104"/>
            <a:ext cx="1234440" cy="512064"/>
          </a:xfrm>
          <a:prstGeom prst="rect">
            <a:avLst/>
          </a:prstGeom>
          <a:solidFill>
            <a:srgbClr val="EBF2FA"/>
          </a:solidFill>
          <a:ln>
            <a:solidFill>
              <a:srgbClr val="969696"/>
            </a:solidFill>
          </a:ln>
        </p:spPr>
        <p:txBody>
          <a:bodyPr wrap="square" lIns="109728" tIns="73152" rIns="109728">
            <a:spAutoFit/>
          </a:bodyPr>
          <a:lstStyle/>
          <a:p>
            <a:pPr algn="ctr"/>
            <a:r>
              <a:rPr sz="1300" b="1">
                <a:solidFill>
                  <a:srgbClr val="000000"/>
                </a:solidFill>
                <a:latin typeface="Arial"/>
              </a:rPr>
              <a:t>Phase 3</a:t>
            </a:r>
          </a:p>
        </p:txBody>
      </p:sp>
      <p:sp>
        <p:nvSpPr>
          <p:cNvPr id="17" name="TextBox 16"/>
          <p:cNvSpPr txBox="1"/>
          <p:nvPr/>
        </p:nvSpPr>
        <p:spPr>
          <a:xfrm>
            <a:off x="2057400" y="4261104"/>
            <a:ext cx="6492240" cy="512064"/>
          </a:xfrm>
          <a:prstGeom prst="rect">
            <a:avLst/>
          </a:prstGeom>
          <a:solidFill>
            <a:srgbClr val="EBF2FA"/>
          </a:solidFill>
          <a:ln>
            <a:solidFill>
              <a:srgbClr val="969696"/>
            </a:solidFill>
          </a:ln>
        </p:spPr>
        <p:txBody>
          <a:bodyPr wrap="square" lIns="109728" tIns="73152" rIns="109728">
            <a:spAutoFit/>
          </a:bodyPr>
          <a:lstStyle/>
          <a:p>
            <a:pPr algn="ctr"/>
            <a:r>
              <a:rPr sz="1300" b="0">
                <a:solidFill>
                  <a:srgbClr val="000000"/>
                </a:solidFill>
                <a:latin typeface="Arial"/>
              </a:rPr>
              <a:t>Spring Boot Services &amp; Database</a:t>
            </a:r>
          </a:p>
        </p:txBody>
      </p:sp>
      <p:sp>
        <p:nvSpPr>
          <p:cNvPr id="18" name="TextBox 17"/>
          <p:cNvSpPr txBox="1"/>
          <p:nvPr/>
        </p:nvSpPr>
        <p:spPr>
          <a:xfrm>
            <a:off x="8549640" y="4261104"/>
            <a:ext cx="2697480" cy="512064"/>
          </a:xfrm>
          <a:prstGeom prst="rect">
            <a:avLst/>
          </a:prstGeom>
          <a:solidFill>
            <a:srgbClr val="EBF2FA"/>
          </a:solidFill>
          <a:ln>
            <a:solidFill>
              <a:srgbClr val="969696"/>
            </a:solidFill>
          </a:ln>
        </p:spPr>
        <p:txBody>
          <a:bodyPr wrap="square" lIns="109728" tIns="73152" rIns="109728">
            <a:spAutoFit/>
          </a:bodyPr>
          <a:lstStyle/>
          <a:p>
            <a:pPr algn="ctr"/>
            <a:r>
              <a:rPr sz="1300" b="0">
                <a:solidFill>
                  <a:srgbClr val="000000"/>
                </a:solidFill>
                <a:latin typeface="Arial"/>
              </a:rPr>
              <a:t>Weeks 3–4</a:t>
            </a:r>
          </a:p>
        </p:txBody>
      </p:sp>
      <p:sp>
        <p:nvSpPr>
          <p:cNvPr id="19" name="TextBox 18"/>
          <p:cNvSpPr txBox="1"/>
          <p:nvPr/>
        </p:nvSpPr>
        <p:spPr>
          <a:xfrm>
            <a:off x="822960" y="4791456"/>
            <a:ext cx="1234440" cy="512064"/>
          </a:xfrm>
          <a:prstGeom prst="rect">
            <a:avLst/>
          </a:prstGeom>
          <a:solidFill>
            <a:srgbClr val="F8F8F8"/>
          </a:solidFill>
          <a:ln>
            <a:solidFill>
              <a:srgbClr val="969696"/>
            </a:solidFill>
          </a:ln>
        </p:spPr>
        <p:txBody>
          <a:bodyPr wrap="square" lIns="109728" tIns="73152" rIns="109728">
            <a:spAutoFit/>
          </a:bodyPr>
          <a:lstStyle/>
          <a:p>
            <a:pPr algn="ctr"/>
            <a:r>
              <a:rPr sz="1300" b="1">
                <a:solidFill>
                  <a:srgbClr val="000000"/>
                </a:solidFill>
                <a:latin typeface="Arial"/>
              </a:rPr>
              <a:t>Phase 4</a:t>
            </a:r>
          </a:p>
        </p:txBody>
      </p:sp>
      <p:sp>
        <p:nvSpPr>
          <p:cNvPr id="20" name="TextBox 19"/>
          <p:cNvSpPr txBox="1"/>
          <p:nvPr/>
        </p:nvSpPr>
        <p:spPr>
          <a:xfrm>
            <a:off x="2057400" y="4791456"/>
            <a:ext cx="6492240" cy="512064"/>
          </a:xfrm>
          <a:prstGeom prst="rect">
            <a:avLst/>
          </a:prstGeom>
          <a:solidFill>
            <a:srgbClr val="F8F8F8"/>
          </a:solidFill>
          <a:ln>
            <a:solidFill>
              <a:srgbClr val="969696"/>
            </a:solidFill>
          </a:ln>
        </p:spPr>
        <p:txBody>
          <a:bodyPr wrap="square" lIns="109728" tIns="73152" rIns="109728">
            <a:spAutoFit/>
          </a:bodyPr>
          <a:lstStyle/>
          <a:p>
            <a:pPr algn="ctr"/>
            <a:r>
              <a:rPr sz="1300" b="0">
                <a:solidFill>
                  <a:srgbClr val="000000"/>
                </a:solidFill>
                <a:latin typeface="Arial"/>
              </a:rPr>
              <a:t>JWT, Eureka, Gateway &amp; Notifications</a:t>
            </a:r>
          </a:p>
        </p:txBody>
      </p:sp>
      <p:sp>
        <p:nvSpPr>
          <p:cNvPr id="21" name="TextBox 20"/>
          <p:cNvSpPr txBox="1"/>
          <p:nvPr/>
        </p:nvSpPr>
        <p:spPr>
          <a:xfrm>
            <a:off x="8549640" y="4791456"/>
            <a:ext cx="2697480" cy="512064"/>
          </a:xfrm>
          <a:prstGeom prst="rect">
            <a:avLst/>
          </a:prstGeom>
          <a:solidFill>
            <a:srgbClr val="F8F8F8"/>
          </a:solidFill>
          <a:ln>
            <a:solidFill>
              <a:srgbClr val="969696"/>
            </a:solidFill>
          </a:ln>
        </p:spPr>
        <p:txBody>
          <a:bodyPr wrap="square" lIns="109728" tIns="73152" rIns="109728">
            <a:spAutoFit/>
          </a:bodyPr>
          <a:lstStyle/>
          <a:p>
            <a:pPr algn="ctr"/>
            <a:r>
              <a:rPr sz="1300" b="0">
                <a:solidFill>
                  <a:srgbClr val="000000"/>
                </a:solidFill>
                <a:latin typeface="Arial"/>
              </a:rPr>
              <a:t>Week 5</a:t>
            </a:r>
          </a:p>
        </p:txBody>
      </p:sp>
      <p:sp>
        <p:nvSpPr>
          <p:cNvPr id="22" name="TextBox 21"/>
          <p:cNvSpPr txBox="1"/>
          <p:nvPr/>
        </p:nvSpPr>
        <p:spPr>
          <a:xfrm>
            <a:off x="822960" y="5321808"/>
            <a:ext cx="1234440" cy="512064"/>
          </a:xfrm>
          <a:prstGeom prst="rect">
            <a:avLst/>
          </a:prstGeom>
          <a:solidFill>
            <a:srgbClr val="EBF2FA"/>
          </a:solidFill>
          <a:ln>
            <a:solidFill>
              <a:srgbClr val="969696"/>
            </a:solidFill>
          </a:ln>
        </p:spPr>
        <p:txBody>
          <a:bodyPr wrap="square" lIns="109728" tIns="73152" rIns="109728">
            <a:spAutoFit/>
          </a:bodyPr>
          <a:lstStyle/>
          <a:p>
            <a:pPr algn="ctr"/>
            <a:r>
              <a:rPr sz="1300" b="1">
                <a:solidFill>
                  <a:srgbClr val="000000"/>
                </a:solidFill>
                <a:latin typeface="Arial"/>
              </a:rPr>
              <a:t>Phase 5</a:t>
            </a:r>
          </a:p>
        </p:txBody>
      </p:sp>
      <p:sp>
        <p:nvSpPr>
          <p:cNvPr id="23" name="TextBox 22"/>
          <p:cNvSpPr txBox="1"/>
          <p:nvPr/>
        </p:nvSpPr>
        <p:spPr>
          <a:xfrm>
            <a:off x="2057400" y="5321808"/>
            <a:ext cx="6492240" cy="512064"/>
          </a:xfrm>
          <a:prstGeom prst="rect">
            <a:avLst/>
          </a:prstGeom>
          <a:solidFill>
            <a:srgbClr val="EBF2FA"/>
          </a:solidFill>
          <a:ln>
            <a:solidFill>
              <a:srgbClr val="969696"/>
            </a:solidFill>
          </a:ln>
        </p:spPr>
        <p:txBody>
          <a:bodyPr wrap="square" lIns="109728" tIns="73152" rIns="109728">
            <a:spAutoFit/>
          </a:bodyPr>
          <a:lstStyle/>
          <a:p>
            <a:pPr algn="ctr"/>
            <a:r>
              <a:rPr sz="1300" b="0">
                <a:solidFill>
                  <a:srgbClr val="000000"/>
                </a:solidFill>
                <a:latin typeface="Arial"/>
              </a:rPr>
              <a:t>Testing, Docker, GitHub Actions &amp; Documentation</a:t>
            </a:r>
          </a:p>
        </p:txBody>
      </p:sp>
      <p:sp>
        <p:nvSpPr>
          <p:cNvPr id="24" name="TextBox 23"/>
          <p:cNvSpPr txBox="1"/>
          <p:nvPr/>
        </p:nvSpPr>
        <p:spPr>
          <a:xfrm>
            <a:off x="8549640" y="5321808"/>
            <a:ext cx="2697480" cy="512064"/>
          </a:xfrm>
          <a:prstGeom prst="rect">
            <a:avLst/>
          </a:prstGeom>
          <a:solidFill>
            <a:srgbClr val="EBF2FA"/>
          </a:solidFill>
          <a:ln>
            <a:solidFill>
              <a:srgbClr val="969696"/>
            </a:solidFill>
          </a:ln>
        </p:spPr>
        <p:txBody>
          <a:bodyPr wrap="square" lIns="109728" tIns="73152" rIns="109728">
            <a:spAutoFit/>
          </a:bodyPr>
          <a:lstStyle/>
          <a:p>
            <a:pPr algn="ctr"/>
            <a:r>
              <a:rPr sz="1300" b="0">
                <a:solidFill>
                  <a:srgbClr val="000000"/>
                </a:solidFill>
                <a:latin typeface="Arial"/>
              </a:rPr>
              <a:t>Week 6</a:t>
            </a:r>
          </a:p>
        </p:txBody>
      </p:sp>
      <p:sp>
        <p:nvSpPr>
          <p:cNvPr id="25" name="TextBox 24"/>
          <p:cNvSpPr txBox="1"/>
          <p:nvPr/>
        </p:nvSpPr>
        <p:spPr>
          <a:xfrm>
            <a:off x="883920" y="6101202"/>
            <a:ext cx="10424160" cy="411480"/>
          </a:xfrm>
          <a:prstGeom prst="rect">
            <a:avLst/>
          </a:prstGeom>
          <a:noFill/>
          <a:ln>
            <a:noFill/>
          </a:ln>
        </p:spPr>
        <p:txBody>
          <a:bodyPr wrap="square" lIns="109728" tIns="73152" rIns="109728">
            <a:spAutoFit/>
          </a:bodyPr>
          <a:lstStyle/>
          <a:p>
            <a:pPr algn="ctr"/>
            <a:r>
              <a:rPr sz="1400" b="1" dirty="0">
                <a:solidFill>
                  <a:srgbClr val="1E1E1E"/>
                </a:solidFill>
                <a:latin typeface="Arial"/>
              </a:rPr>
              <a:t>Expected Outcome: A secure, modular and maintainable SOA-based system for fine calculation, tracking, payment and notifications.</a:t>
            </a:r>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860</Words>
  <Application>Microsoft Office PowerPoint</Application>
  <PresentationFormat>Widescreen</PresentationFormat>
  <Paragraphs>92</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sanjay bhaargav</cp:lastModifiedBy>
  <cp:revision>34</cp:revision>
  <dcterms:created xsi:type="dcterms:W3CDTF">2026-08-08T06:33:56Z</dcterms:created>
  <dcterms:modified xsi:type="dcterms:W3CDTF">2026-08-26T09:28:31Z</dcterms:modified>
</cp:coreProperties>
</file>